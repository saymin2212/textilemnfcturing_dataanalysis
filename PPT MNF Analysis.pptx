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75" r:id="rId18"/>
  </p:sldIdLst>
  <p:sldSz cx="12192000" cy="6858000"/>
  <p:notesSz cx="6858000" cy="9144000"/>
  <p:embeddedFontLst>
    <p:embeddedFont>
      <p:font typeface="Playfair Display" panose="020F0502020204030204" pitchFamily="2" charset="0"/>
      <p:regular r:id="rId20"/>
      <p:bold r:id="rId21"/>
      <p:italic r:id="rId22"/>
      <p:boldItalic r:id="rId23"/>
    </p:embeddedFont>
    <p:embeddedFont>
      <p:font typeface="Poppins" panose="020B0502040204020203" pitchFamily="2" charset="0"/>
      <p:regular r:id="rId24"/>
      <p:bold r:id="rId25"/>
      <p:italic r:id="rId26"/>
      <p:boldItalic r:id="rId27"/>
    </p:embeddedFont>
    <p:embeddedFont>
      <p:font typeface="Poppins Light" panose="020B0502040204020203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81">
          <p15:clr>
            <a:srgbClr val="A4A3A4"/>
          </p15:clr>
        </p15:guide>
        <p15:guide id="2" pos="7129">
          <p15:clr>
            <a:srgbClr val="A4A3A4"/>
          </p15:clr>
        </p15:guide>
        <p15:guide id="3" orient="horz" pos="340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3181"/>
        <p:guide pos="7129"/>
        <p:guide orient="horz" pos="34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min Shaikh (IN)" userId="f25615fa-bdca-485a-9808-060a086a38c5" providerId="ADAL" clId="{95642C86-94DC-49B3-AD39-0989EBD38EB1}"/>
    <pc:docChg chg="custSel modSld">
      <pc:chgData name="Saymin Shaikh (IN)" userId="f25615fa-bdca-485a-9808-060a086a38c5" providerId="ADAL" clId="{95642C86-94DC-49B3-AD39-0989EBD38EB1}" dt="2026-04-27T11:11:30.749" v="0" actId="478"/>
      <pc:docMkLst>
        <pc:docMk/>
      </pc:docMkLst>
      <pc:sldChg chg="delSp mod">
        <pc:chgData name="Saymin Shaikh (IN)" userId="f25615fa-bdca-485a-9808-060a086a38c5" providerId="ADAL" clId="{95642C86-94DC-49B3-AD39-0989EBD38EB1}" dt="2026-04-27T11:11:30.749" v="0" actId="478"/>
        <pc:sldMkLst>
          <pc:docMk/>
          <pc:sldMk cId="0" sldId="275"/>
        </pc:sldMkLst>
        <pc:spChg chg="del">
          <ac:chgData name="Saymin Shaikh (IN)" userId="f25615fa-bdca-485a-9808-060a086a38c5" providerId="ADAL" clId="{95642C86-94DC-49B3-AD39-0989EBD38EB1}" dt="2026-04-27T11:11:30.749" v="0" actId="478"/>
          <ac:spMkLst>
            <pc:docMk/>
            <pc:sldMk cId="0" sldId="275"/>
            <ac:spMk id="4" creationId="{8AE64CBD-0D80-A523-487B-9DC9C96D1A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33F490C-AE05-DFE7-3955-9A2D0D41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CE7B540-3063-BA00-CC5A-E90A6921B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2F3F52A2-D320-666C-BC64-E084EC139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8364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92EC406-8AF0-3E02-3BD9-970D73CB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574329E-495E-CF13-E1DC-2E0BC4F73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7C57D42-5B0B-0172-70BB-D63ECEA92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3868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D42BB8-F993-88DA-D69B-183B1E7A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476E484-E6BF-C329-CCFE-114791327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85BC4382-1350-D9F7-7EA7-BB2CF6D8A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6584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2730498-651B-0F7B-C23A-DB70096D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04DCDBE-99B0-E640-15DE-B58A0E4C0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3703EFC9-16AF-1F94-8DB5-CB2F190BE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7484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F20A7F8-26BB-4792-1A03-055A27AD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43C1E89-93EC-B156-E417-096EC1135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2A1FFF5-32E9-7C2D-40D4-F24FC7515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6798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3AB1BDD-3FB4-2533-C0D0-278A578D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99968C1-FC9B-EDBF-5E89-C0204B6BE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6999C65-6B57-1B13-0EDD-2D7CB7E5D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1987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B3F78C9-F7D7-C50F-E116-792B4616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9A200130-8C07-94D0-6EB3-3BB4C3237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BCD657D-6034-C8D9-6C52-E30070236A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3812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195DCCD-5342-48CF-71DB-3818AD337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7F5B708-69F9-9FDA-528A-E00F3BBA7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D1C77A07-70A0-CEE6-0757-F49FB99A5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5898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8A49DA-F6F4-DC47-0802-8ED136301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AC90D18-2959-67C7-B571-1250E8709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D998574-8EDB-4EAC-DE81-5067C8AE5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320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73E48B1-346D-4A42-99EB-58BAEFA5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85059A3-1B59-3D3E-DD9F-2D458A77A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D5B2F252-25A7-BDE4-5AE9-6A1D850B13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9812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467458-C6B3-8C99-ACAE-72F3B2F5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76EBB12F-C051-890D-C91F-03E3C0A1C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15B555D-7ABD-F033-A61E-BD18A1F6E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14931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538596D-25A5-1208-6945-F2E3CF1F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5A7BBE2-E91B-9861-AF27-1640DAC84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D14C3B6-6D40-2437-7B6B-3EEAEED11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4809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1300354" y="918117"/>
            <a:ext cx="3349780" cy="32300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>
            <a:spLocks noGrp="1"/>
          </p:cNvSpPr>
          <p:nvPr>
            <p:ph type="pic" idx="2"/>
          </p:nvPr>
        </p:nvSpPr>
        <p:spPr>
          <a:xfrm>
            <a:off x="1396654" y="1809516"/>
            <a:ext cx="3182216" cy="28361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>
            <a:spLocks noGrp="1"/>
          </p:cNvSpPr>
          <p:nvPr>
            <p:ph type="pic" idx="2"/>
          </p:nvPr>
        </p:nvSpPr>
        <p:spPr>
          <a:xfrm>
            <a:off x="4926750" y="2260309"/>
            <a:ext cx="2339402" cy="233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>
            <a:spLocks noGrp="1"/>
          </p:cNvSpPr>
          <p:nvPr>
            <p:ph type="pic" idx="2"/>
          </p:nvPr>
        </p:nvSpPr>
        <p:spPr>
          <a:xfrm>
            <a:off x="4820521" y="2070410"/>
            <a:ext cx="2625164" cy="27208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>
            <a:spLocks noGrp="1"/>
          </p:cNvSpPr>
          <p:nvPr>
            <p:ph type="pic" idx="2"/>
          </p:nvPr>
        </p:nvSpPr>
        <p:spPr>
          <a:xfrm>
            <a:off x="6540500" y="803275"/>
            <a:ext cx="4814888" cy="524192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>
            <a:spLocks noGrp="1"/>
          </p:cNvSpPr>
          <p:nvPr>
            <p:ph type="pic" idx="2"/>
          </p:nvPr>
        </p:nvSpPr>
        <p:spPr>
          <a:xfrm>
            <a:off x="5981700" y="1219200"/>
            <a:ext cx="5575300" cy="4419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>
            <a:spLocks noGrp="1"/>
          </p:cNvSpPr>
          <p:nvPr>
            <p:ph type="pic" idx="2"/>
          </p:nvPr>
        </p:nvSpPr>
        <p:spPr>
          <a:xfrm>
            <a:off x="927100" y="590550"/>
            <a:ext cx="4610100" cy="567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>
            <a:spLocks noGrp="1"/>
          </p:cNvSpPr>
          <p:nvPr>
            <p:ph type="pic" idx="2"/>
          </p:nvPr>
        </p:nvSpPr>
        <p:spPr>
          <a:xfrm>
            <a:off x="1346200" y="0"/>
            <a:ext cx="5245100" cy="685800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422900" y="1123950"/>
            <a:ext cx="5448300" cy="461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Picture with Caption">
  <p:cSld name="9_Picture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>
            <a:spLocks noGrp="1"/>
          </p:cNvSpPr>
          <p:nvPr>
            <p:ph type="pic" idx="2"/>
          </p:nvPr>
        </p:nvSpPr>
        <p:spPr>
          <a:xfrm>
            <a:off x="888093" y="2525486"/>
            <a:ext cx="1995714" cy="1995714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9"/>
          <p:cNvSpPr>
            <a:spLocks noGrp="1"/>
          </p:cNvSpPr>
          <p:nvPr>
            <p:ph type="pic" idx="3"/>
          </p:nvPr>
        </p:nvSpPr>
        <p:spPr>
          <a:xfrm>
            <a:off x="3656693" y="2525486"/>
            <a:ext cx="1995714" cy="1995714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9"/>
          <p:cNvSpPr>
            <a:spLocks noGrp="1"/>
          </p:cNvSpPr>
          <p:nvPr>
            <p:ph type="pic" idx="4"/>
          </p:nvPr>
        </p:nvSpPr>
        <p:spPr>
          <a:xfrm>
            <a:off x="6425293" y="2525486"/>
            <a:ext cx="1995714" cy="1995714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>
            <a:spLocks noGrp="1"/>
          </p:cNvSpPr>
          <p:nvPr>
            <p:ph type="pic" idx="5"/>
          </p:nvPr>
        </p:nvSpPr>
        <p:spPr>
          <a:xfrm>
            <a:off x="9193893" y="2525486"/>
            <a:ext cx="1995714" cy="19957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69" r:id="rId6"/>
    <p:sldLayoutId id="2147483648" r:id="rId7"/>
    <p:sldLayoutId id="2147483649" r:id="rId8"/>
    <p:sldLayoutId id="2147483650" r:id="rId9"/>
    <p:sldLayoutId id="2147483651" r:id="rId10"/>
    <p:sldLayoutId id="2147483663" r:id="rId11"/>
    <p:sldLayoutId id="2147483664" r:id="rId12"/>
    <p:sldLayoutId id="214748366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3.jp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4;p20">
            <a:extLst>
              <a:ext uri="{FF2B5EF4-FFF2-40B4-BE49-F238E27FC236}">
                <a16:creationId xmlns:a16="http://schemas.microsoft.com/office/drawing/2014/main" id="{6974955B-3DE8-692E-B1FD-2F8690CC485A}"/>
              </a:ext>
            </a:extLst>
          </p:cNvPr>
          <p:cNvSpPr/>
          <p:nvPr/>
        </p:nvSpPr>
        <p:spPr>
          <a:xfrm>
            <a:off x="963168" y="1197864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0"/>
          <p:cNvSpPr txBox="1"/>
          <p:nvPr/>
        </p:nvSpPr>
        <p:spPr>
          <a:xfrm>
            <a:off x="-815858" y="2002546"/>
            <a:ext cx="1204469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600" b="1" dirty="0">
                <a:solidFill>
                  <a:schemeClr val="tx1"/>
                </a:solidFill>
              </a:rPr>
              <a:t>Manufacturing Analysis for Clothing Industry</a:t>
            </a:r>
            <a:endParaRPr sz="3600" b="1" dirty="0">
              <a:solidFill>
                <a:schemeClr val="tx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6" name="Google Shape;76;p20"/>
          <p:cNvSpPr txBox="1"/>
          <p:nvPr/>
        </p:nvSpPr>
        <p:spPr>
          <a:xfrm>
            <a:off x="4782312" y="2648836"/>
            <a:ext cx="725119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700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Using Excel, Tableau, Power BI &amp; SQL</a:t>
            </a:r>
          </a:p>
        </p:txBody>
      </p:sp>
      <p:sp>
        <p:nvSpPr>
          <p:cNvPr id="7" name="Google Shape;76;p20">
            <a:extLst>
              <a:ext uri="{FF2B5EF4-FFF2-40B4-BE49-F238E27FC236}">
                <a16:creationId xmlns:a16="http://schemas.microsoft.com/office/drawing/2014/main" id="{14E39585-20C5-EE1D-5F90-1A2A89C92087}"/>
              </a:ext>
            </a:extLst>
          </p:cNvPr>
          <p:cNvSpPr txBox="1"/>
          <p:nvPr/>
        </p:nvSpPr>
        <p:spPr>
          <a:xfrm>
            <a:off x="9662160" y="6291071"/>
            <a:ext cx="252984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700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GROUP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touching a screen">
            <a:extLst>
              <a:ext uri="{FF2B5EF4-FFF2-40B4-BE49-F238E27FC236}">
                <a16:creationId xmlns:a16="http://schemas.microsoft.com/office/drawing/2014/main" id="{88B1F822-CAEF-A656-A469-21D7F7FF937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4" name="Google Shape;84;p21"/>
          <p:cNvSpPr txBox="1"/>
          <p:nvPr/>
        </p:nvSpPr>
        <p:spPr>
          <a:xfrm>
            <a:off x="1232955" y="1615914"/>
            <a:ext cx="8871163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Introduction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Project Objective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Data Analysis 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Key Findings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Advantages &amp; Disadvantages of Clothing Industry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Market Factors affecting clothing Industry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Conclusion</a:t>
            </a:r>
            <a:endParaRPr sz="2000" b="1" dirty="0">
              <a:solidFill>
                <a:schemeClr val="tx1"/>
              </a:solidFill>
            </a:endParaRPr>
          </a:p>
        </p:txBody>
      </p:sp>
      <p:sp>
        <p:nvSpPr>
          <p:cNvPr id="85" name="Google Shape;85;p21"/>
          <p:cNvSpPr txBox="1"/>
          <p:nvPr/>
        </p:nvSpPr>
        <p:spPr>
          <a:xfrm>
            <a:off x="611164" y="926769"/>
            <a:ext cx="5230800" cy="629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AGENDA</a:t>
            </a:r>
            <a:endParaRPr sz="32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87" name="Google Shape;87;p21"/>
          <p:cNvCxnSpPr/>
          <p:nvPr/>
        </p:nvCxnSpPr>
        <p:spPr>
          <a:xfrm rot="10800000">
            <a:off x="685800" y="5715000"/>
            <a:ext cx="0" cy="114300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8" name="Google Shape;88;p21"/>
          <p:cNvCxnSpPr/>
          <p:nvPr/>
        </p:nvCxnSpPr>
        <p:spPr>
          <a:xfrm>
            <a:off x="10934700" y="596900"/>
            <a:ext cx="12573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attern of clothes and accessories&#10;&#10;AI-generated content may be incorrect.">
            <a:extLst>
              <a:ext uri="{FF2B5EF4-FFF2-40B4-BE49-F238E27FC236}">
                <a16:creationId xmlns:a16="http://schemas.microsoft.com/office/drawing/2014/main" id="{3216DC57-3058-DCB3-7CD9-AEAF0BA852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/>
                    </a14:imgEffect>
                  </a14:imgLayer>
                </a14:imgProps>
              </a:ext>
            </a:extLst>
          </a:blip>
          <a:srcRect l="3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01" name="Google Shape;101;p22"/>
          <p:cNvCxnSpPr/>
          <p:nvPr/>
        </p:nvCxnSpPr>
        <p:spPr>
          <a:xfrm>
            <a:off x="11176000" y="0"/>
            <a:ext cx="0" cy="143510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0" y="6299201"/>
            <a:ext cx="13589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85;p21">
            <a:extLst>
              <a:ext uri="{FF2B5EF4-FFF2-40B4-BE49-F238E27FC236}">
                <a16:creationId xmlns:a16="http://schemas.microsoft.com/office/drawing/2014/main" id="{20D9FAC5-9234-3414-3AAF-41495B40E89C}"/>
              </a:ext>
            </a:extLst>
          </p:cNvPr>
          <p:cNvSpPr txBox="1"/>
          <p:nvPr/>
        </p:nvSpPr>
        <p:spPr>
          <a:xfrm>
            <a:off x="611164" y="926769"/>
            <a:ext cx="5230800" cy="629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</a:t>
            </a:r>
            <a:endParaRPr sz="32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" name="Google Shape;84;p21">
            <a:extLst>
              <a:ext uri="{FF2B5EF4-FFF2-40B4-BE49-F238E27FC236}">
                <a16:creationId xmlns:a16="http://schemas.microsoft.com/office/drawing/2014/main" id="{EB93CD31-CF64-442C-5771-91D55A18332E}"/>
              </a:ext>
            </a:extLst>
          </p:cNvPr>
          <p:cNvSpPr txBox="1"/>
          <p:nvPr/>
        </p:nvSpPr>
        <p:spPr>
          <a:xfrm>
            <a:off x="1232955" y="1615914"/>
            <a:ext cx="1066338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Clothing manufacturing industry is one of the largest global sectors.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Highly competitive and influenced by trends.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Data-driven decisions are essential to reduce inefficiencies and improve productivity.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D38DE71C-1A3F-1BEB-6337-3954D873774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/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/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4061A112-8A34-A40E-79A1-8E65B30A9E60}"/>
              </a:ext>
            </a:extLst>
          </p:cNvPr>
          <p:cNvSpPr txBox="1"/>
          <p:nvPr/>
        </p:nvSpPr>
        <p:spPr>
          <a:xfrm>
            <a:off x="611164" y="926769"/>
            <a:ext cx="5230800" cy="629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OBJECTIVE</a:t>
            </a:r>
            <a:endParaRPr sz="32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" name="Google Shape;84;p21">
            <a:extLst>
              <a:ext uri="{FF2B5EF4-FFF2-40B4-BE49-F238E27FC236}">
                <a16:creationId xmlns:a16="http://schemas.microsoft.com/office/drawing/2014/main" id="{3120281D-08B5-B412-9754-F548BB9775F3}"/>
              </a:ext>
            </a:extLst>
          </p:cNvPr>
          <p:cNvSpPr txBox="1"/>
          <p:nvPr/>
        </p:nvSpPr>
        <p:spPr>
          <a:xfrm>
            <a:off x="1232955" y="1615914"/>
            <a:ext cx="10663388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Analyze production, rejection, and cost data.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Identify inefficiencies and provide actionable insights.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Tools used: Excel, Tableau, Power BI &amp; 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307CBC9-0FBC-A586-CD4B-49FF66F4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82EFE1BC-B55B-E14C-9143-7530219861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FE65F8AE-B56F-1631-F9A5-33B5D3D5F9B6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998A32BE-5B3B-04D1-0421-8FA926888D7B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D4D1922C-E166-09F5-7BC0-88B63008AF40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EXCEL DASHBOARD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34991-EF40-CFD0-D481-493359F8C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394234"/>
            <a:ext cx="11978640" cy="638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1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303694E-AE4B-27F9-DCB3-5EB7520A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7336798C-B497-01FB-9FAA-908042B90F0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9A3D7351-F4CC-B971-28F3-B94E32343BB0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840173F2-17B7-72F7-5914-1EE0D83D545B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CC415A68-816E-F1C9-A59D-A5786A13C760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EXCEL DASHBOARD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0D766-DDF6-A6C0-A7E1-2F5709088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520699"/>
            <a:ext cx="11905488" cy="624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0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46F6929-9890-8870-319D-C3F0306A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0A4C9293-7D29-4890-676E-73A955CC2B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1194D217-4154-566B-AF8B-30CDE4E7BD51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268825C7-4AAE-EA04-E57E-30BFC4D1E1DE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6BF72CE4-2CF0-F05C-A0A0-7BF2479A24EA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EXCEL DASHBOARD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F4ECFF-D0E4-1FC9-BC75-E0D14B70B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" y="604427"/>
            <a:ext cx="11905488" cy="610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2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F230E1B-7BE0-0095-3489-F3B79850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862C35EF-2EC8-38BB-8C69-56CA8642BA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4815D708-574E-2E09-852C-1752826FA960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2464D372-6A23-FBAA-AF0F-28BCB6A1976C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61C37D9B-0284-E6DE-CD90-421EFD485DFD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TABLEAU DASHBOARD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1A083-0134-FA9E-6163-7B2A138DAE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00" b="3200"/>
          <a:stretch>
            <a:fillRect/>
          </a:stretch>
        </p:blipFill>
        <p:spPr>
          <a:xfrm>
            <a:off x="128016" y="394235"/>
            <a:ext cx="11932920" cy="633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5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8E733A8-63BD-F42C-D222-0B793FF2E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45394085-9DA1-771C-7757-E58A44CD3E9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3B8CA173-93BF-796D-CB8E-FD783374AEB5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92E7865C-46BA-4465-78C3-454B3252A23F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7DBE4F2A-3465-79B1-E6E4-DCF9FB36601E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POWER BI DASHBOARD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398387-39A9-9904-915B-E247E072D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4" y="394234"/>
            <a:ext cx="12149931" cy="646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B3BBBE6-FA4D-DBEA-0F94-00EC7D04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20BD8812-96AA-1847-3512-8F7B44CC62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27DED0F2-C120-831A-402C-769942F1FD13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3921594F-8AFF-BA50-61C2-AC50169669AC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41ECBC3B-8766-C963-2C14-CB8FDA938F53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POWER BI DASHBOARD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DB7719-8CED-19BE-E279-B65A2267C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4235"/>
            <a:ext cx="12192000" cy="644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3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75F48F4-DE57-9D50-AF2A-3AD167BC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5EB8414C-6EBB-A9B5-B41A-E4FB49F293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1A0FD127-18A4-C902-1628-42AFB9329F20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CE855EFC-25ED-2062-75FD-290BD582CD36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841DCA1C-30DF-7691-313D-9E8D4BAD82D5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POWER BI DASHBOARD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D9B76E-27F4-B55F-568F-38C51204E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1" y="394234"/>
            <a:ext cx="12135377" cy="646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5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CC58EDA-49A9-F8FD-02C2-05CDF08AE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F6A60CAB-C56D-54D0-CECD-747E74CC6A5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2222C833-94C6-397B-A7DD-C2BCA7C5EA76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AB951C91-6250-D5E6-8D49-22E201DB2026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D7571529-CAD9-3CE8-2401-8E9B1F180FE8}"/>
              </a:ext>
            </a:extLst>
          </p:cNvPr>
          <p:cNvSpPr txBox="1"/>
          <p:nvPr/>
        </p:nvSpPr>
        <p:spPr>
          <a:xfrm>
            <a:off x="0" y="0"/>
            <a:ext cx="10160468" cy="39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SQL DATA ANALYSIS</a:t>
            </a:r>
            <a:endParaRPr sz="1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569EA1-AFFD-9329-2B38-4DD091F43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43" y="432862"/>
            <a:ext cx="3657599" cy="409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ABD84C15-2675-A16B-364E-61ECB2A78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742" y="985838"/>
            <a:ext cx="3657600" cy="1838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FDEB651E-83A4-AEB3-0AA6-D1CBF654C3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877"/>
          <a:stretch>
            <a:fillRect/>
          </a:stretch>
        </p:blipFill>
        <p:spPr>
          <a:xfrm>
            <a:off x="229742" y="4349213"/>
            <a:ext cx="6363082" cy="243734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 descr="A close up of text">
            <a:extLst>
              <a:ext uri="{FF2B5EF4-FFF2-40B4-BE49-F238E27FC236}">
                <a16:creationId xmlns:a16="http://schemas.microsoft.com/office/drawing/2014/main" id="{EC966F83-61BD-524A-F124-1E1177288E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9179"/>
          <a:stretch>
            <a:fillRect/>
          </a:stretch>
        </p:blipFill>
        <p:spPr>
          <a:xfrm>
            <a:off x="229742" y="2967564"/>
            <a:ext cx="3657600" cy="12382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4" name="Picture 13" descr="A screenshot of a computer code">
            <a:extLst>
              <a:ext uri="{FF2B5EF4-FFF2-40B4-BE49-F238E27FC236}">
                <a16:creationId xmlns:a16="http://schemas.microsoft.com/office/drawing/2014/main" id="{953F39BF-45F6-2914-F29F-F7879457B1E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6556"/>
          <a:stretch>
            <a:fillRect/>
          </a:stretch>
        </p:blipFill>
        <p:spPr>
          <a:xfrm>
            <a:off x="4117085" y="432862"/>
            <a:ext cx="7845172" cy="37729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6" name="Picture 1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3B6FD98-0B73-D697-F202-032166DEE83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5364" r="12731" b="1175"/>
          <a:stretch>
            <a:fillRect/>
          </a:stretch>
        </p:blipFill>
        <p:spPr>
          <a:xfrm>
            <a:off x="6684264" y="4313232"/>
            <a:ext cx="5277993" cy="24373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7274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608685E-E61A-1293-8DD8-8D832197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over a wooden steps&#10;&#10;AI-generated content may be incorrect.">
            <a:extLst>
              <a:ext uri="{FF2B5EF4-FFF2-40B4-BE49-F238E27FC236}">
                <a16:creationId xmlns:a16="http://schemas.microsoft.com/office/drawing/2014/main" id="{4A20E78A-611F-2AFA-2B23-092DEF263BD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97469DC0-3366-5AB0-6025-A7A53DFB0576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C036A5E4-AF79-59F2-B404-D969ADDCB7FC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C7733D29-204C-2264-1DA7-516C72CDED50}"/>
              </a:ext>
            </a:extLst>
          </p:cNvPr>
          <p:cNvSpPr txBox="1"/>
          <p:nvPr/>
        </p:nvSpPr>
        <p:spPr>
          <a:xfrm>
            <a:off x="611164" y="926769"/>
            <a:ext cx="5230800" cy="629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FINDINGS</a:t>
            </a:r>
            <a:endParaRPr sz="32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" name="Google Shape;84;p21">
            <a:extLst>
              <a:ext uri="{FF2B5EF4-FFF2-40B4-BE49-F238E27FC236}">
                <a16:creationId xmlns:a16="http://schemas.microsoft.com/office/drawing/2014/main" id="{9690AD75-EED9-7100-E0C3-C6FE8B447265}"/>
              </a:ext>
            </a:extLst>
          </p:cNvPr>
          <p:cNvSpPr txBox="1"/>
          <p:nvPr/>
        </p:nvSpPr>
        <p:spPr>
          <a:xfrm>
            <a:off x="1232955" y="1615914"/>
            <a:ext cx="10663388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Footwear and Printed Fabric show highest rejection rates.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Certain employees have consistently higher output.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Top 10 machines contribute to major output.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Seasonal variation in production and rejection.</a:t>
            </a:r>
          </a:p>
        </p:txBody>
      </p:sp>
    </p:spTree>
    <p:extLst>
      <p:ext uri="{BB962C8B-B14F-4D97-AF65-F5344CB8AC3E}">
        <p14:creationId xmlns:p14="http://schemas.microsoft.com/office/powerpoint/2010/main" val="406352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06B1ACA-0B24-E2CB-7E87-DFB27A9F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nnequin wearing a hat and sunglasses&#10;&#10;AI-generated content may be incorrect.">
            <a:extLst>
              <a:ext uri="{FF2B5EF4-FFF2-40B4-BE49-F238E27FC236}">
                <a16:creationId xmlns:a16="http://schemas.microsoft.com/office/drawing/2014/main" id="{4ECAC4A8-515B-B5A9-B070-081F663028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9725CA37-D63A-02C8-C6F5-599903C81C1B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9AC92D04-C1CB-13E4-4407-AB7A4618D965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8699C96B-1304-F349-7C8C-52D6EF5EEF6B}"/>
              </a:ext>
            </a:extLst>
          </p:cNvPr>
          <p:cNvSpPr txBox="1"/>
          <p:nvPr/>
        </p:nvSpPr>
        <p:spPr>
          <a:xfrm>
            <a:off x="133369" y="150814"/>
            <a:ext cx="11925260" cy="56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ADVANTAGES &amp; DISADVANTAGES OF CLOTHING INDUSTRY</a:t>
            </a:r>
            <a:endParaRPr sz="2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" name="Google Shape;84;p21">
            <a:extLst>
              <a:ext uri="{FF2B5EF4-FFF2-40B4-BE49-F238E27FC236}">
                <a16:creationId xmlns:a16="http://schemas.microsoft.com/office/drawing/2014/main" id="{B96CAE11-030F-D62D-2C8C-6F55566143AC}"/>
              </a:ext>
            </a:extLst>
          </p:cNvPr>
          <p:cNvSpPr txBox="1"/>
          <p:nvPr/>
        </p:nvSpPr>
        <p:spPr>
          <a:xfrm>
            <a:off x="1219200" y="1384776"/>
            <a:ext cx="538276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Advantages: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High global demand.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Export opportunities.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Job creation.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</p:txBody>
      </p:sp>
      <p:sp>
        <p:nvSpPr>
          <p:cNvPr id="2" name="Google Shape;84;p21">
            <a:extLst>
              <a:ext uri="{FF2B5EF4-FFF2-40B4-BE49-F238E27FC236}">
                <a16:creationId xmlns:a16="http://schemas.microsoft.com/office/drawing/2014/main" id="{F1873A2E-52D6-572E-45C1-142F5790C288}"/>
              </a:ext>
            </a:extLst>
          </p:cNvPr>
          <p:cNvSpPr txBox="1"/>
          <p:nvPr/>
        </p:nvSpPr>
        <p:spPr>
          <a:xfrm>
            <a:off x="6995161" y="3429000"/>
            <a:ext cx="5382768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Disadvantages: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Seasonal demand fluctuations.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High competition.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Rising raw material costs.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5269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0D30828-2B2B-B6DF-D5EB-1AE1A63A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E35F54-5441-780A-108C-8F9A94213D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rcRect/>
          <a:stretch/>
        </p:blipFill>
        <p:spPr>
          <a:xfrm>
            <a:off x="0" y="1348"/>
            <a:ext cx="12192001" cy="6853020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376DBAB2-281B-30D9-8876-3EB8DFB62961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5859AA66-2F45-D110-8E2E-CC412A98D408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97712DC1-644D-6E01-BF41-26F5B51E1204}"/>
              </a:ext>
            </a:extLst>
          </p:cNvPr>
          <p:cNvSpPr txBox="1"/>
          <p:nvPr/>
        </p:nvSpPr>
        <p:spPr>
          <a:xfrm>
            <a:off x="133369" y="150814"/>
            <a:ext cx="11925260" cy="56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MARKET FACTORS AFFECTING CLOTHING INDUSTRY</a:t>
            </a:r>
            <a:endParaRPr sz="2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" name="Google Shape;84;p21">
            <a:extLst>
              <a:ext uri="{FF2B5EF4-FFF2-40B4-BE49-F238E27FC236}">
                <a16:creationId xmlns:a16="http://schemas.microsoft.com/office/drawing/2014/main" id="{95B9A70D-14AF-BC1D-6794-9F097B30654F}"/>
              </a:ext>
            </a:extLst>
          </p:cNvPr>
          <p:cNvSpPr txBox="1"/>
          <p:nvPr/>
        </p:nvSpPr>
        <p:spPr>
          <a:xfrm>
            <a:off x="1594104" y="1429107"/>
            <a:ext cx="5382768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Raw material price volatility.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Changing fashion trends.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</a:rPr>
              <a:t>Economic conditions.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</a:rPr>
              <a:t>Labor cost and availability.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3089132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F4B79E0-F0E9-4ACC-3390-98CA0F920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B157A7-5FD1-8929-8E51-643485E14E4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0000"/>
          </a:blip>
          <a:srcRect/>
          <a:stretch/>
        </p:blipFill>
        <p:spPr>
          <a:xfrm>
            <a:off x="-2" y="1348"/>
            <a:ext cx="12192001" cy="6856652"/>
          </a:xfrm>
          <a:prstGeom prst="rect">
            <a:avLst/>
          </a:prstGeom>
        </p:spPr>
      </p:pic>
      <p:cxnSp>
        <p:nvCxnSpPr>
          <p:cNvPr id="113" name="Google Shape;113;p23">
            <a:extLst>
              <a:ext uri="{FF2B5EF4-FFF2-40B4-BE49-F238E27FC236}">
                <a16:creationId xmlns:a16="http://schemas.microsoft.com/office/drawing/2014/main" id="{2A47B691-B69D-B651-1721-35CBC2AD82EC}"/>
              </a:ext>
            </a:extLst>
          </p:cNvPr>
          <p:cNvCxnSpPr/>
          <p:nvPr/>
        </p:nvCxnSpPr>
        <p:spPr>
          <a:xfrm rot="10800000">
            <a:off x="0" y="952500"/>
            <a:ext cx="1219200" cy="0"/>
          </a:xfrm>
          <a:prstGeom prst="straightConnector1">
            <a:avLst/>
          </a:prstGeom>
          <a:noFill/>
          <a:ln w="25400" cap="flat" cmpd="sng">
            <a:solidFill>
              <a:srgbClr val="DED2B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23">
            <a:extLst>
              <a:ext uri="{FF2B5EF4-FFF2-40B4-BE49-F238E27FC236}">
                <a16:creationId xmlns:a16="http://schemas.microsoft.com/office/drawing/2014/main" id="{32541F74-5665-D786-B164-2A44E01DC051}"/>
              </a:ext>
            </a:extLst>
          </p:cNvPr>
          <p:cNvCxnSpPr/>
          <p:nvPr/>
        </p:nvCxnSpPr>
        <p:spPr>
          <a:xfrm>
            <a:off x="11125200" y="6337300"/>
            <a:ext cx="1066800" cy="0"/>
          </a:xfrm>
          <a:prstGeom prst="straightConnector1">
            <a:avLst/>
          </a:prstGeom>
          <a:noFill/>
          <a:ln w="25400" cap="flat" cmpd="sng">
            <a:solidFill>
              <a:srgbClr val="31373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85;p21">
            <a:extLst>
              <a:ext uri="{FF2B5EF4-FFF2-40B4-BE49-F238E27FC236}">
                <a16:creationId xmlns:a16="http://schemas.microsoft.com/office/drawing/2014/main" id="{6652D6F9-EAA2-BF43-8AD4-DA76FC84FF8E}"/>
              </a:ext>
            </a:extLst>
          </p:cNvPr>
          <p:cNvSpPr txBox="1"/>
          <p:nvPr/>
        </p:nvSpPr>
        <p:spPr>
          <a:xfrm>
            <a:off x="133369" y="150814"/>
            <a:ext cx="11925260" cy="56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C3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 sz="2800" b="1" dirty="0">
              <a:solidFill>
                <a:srgbClr val="2C3C2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" name="Google Shape;84;p21">
            <a:extLst>
              <a:ext uri="{FF2B5EF4-FFF2-40B4-BE49-F238E27FC236}">
                <a16:creationId xmlns:a16="http://schemas.microsoft.com/office/drawing/2014/main" id="{1767846E-CB57-32BE-1D75-14739DED8A3F}"/>
              </a:ext>
            </a:extLst>
          </p:cNvPr>
          <p:cNvSpPr txBox="1"/>
          <p:nvPr/>
        </p:nvSpPr>
        <p:spPr>
          <a:xfrm>
            <a:off x="1219200" y="1384776"/>
            <a:ext cx="943356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Reduce rejection through improved quality control.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Employee training to boost productivity.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Monitor cost trends for better forecasting.</a:t>
            </a:r>
            <a:b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</a:br>
            <a:endParaRPr lang="en-US" sz="2000" b="1" dirty="0">
              <a:solidFill>
                <a:schemeClr val="tx1"/>
              </a:solidFill>
              <a:latin typeface="Poppins Light"/>
              <a:cs typeface="Poppins Light"/>
              <a:sym typeface="Poppins Light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Poppins Light"/>
                <a:cs typeface="Poppins Light"/>
                <a:sym typeface="Poppins Light"/>
              </a:rPr>
              <a:t>Use predictive analytics for demand planning.</a:t>
            </a:r>
          </a:p>
        </p:txBody>
      </p:sp>
    </p:spTree>
    <p:extLst>
      <p:ext uri="{BB962C8B-B14F-4D97-AF65-F5344CB8AC3E}">
        <p14:creationId xmlns:p14="http://schemas.microsoft.com/office/powerpoint/2010/main" val="236199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9"/>
          <p:cNvSpPr/>
          <p:nvPr/>
        </p:nvSpPr>
        <p:spPr>
          <a:xfrm>
            <a:off x="-101600" y="966216"/>
            <a:ext cx="12395200" cy="2438400"/>
          </a:xfrm>
          <a:prstGeom prst="rect">
            <a:avLst/>
          </a:prstGeom>
          <a:solidFill>
            <a:srgbClr val="31373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9"/>
          <p:cNvSpPr txBox="1"/>
          <p:nvPr/>
        </p:nvSpPr>
        <p:spPr>
          <a:xfrm>
            <a:off x="2069714" y="1464086"/>
            <a:ext cx="8052600" cy="16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>
                <a:solidFill>
                  <a:srgbClr val="DED2B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 sz="10000" dirty="0">
              <a:solidFill>
                <a:srgbClr val="DED2B8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656" name="Google Shape;656;p39"/>
          <p:cNvCxnSpPr/>
          <p:nvPr/>
        </p:nvCxnSpPr>
        <p:spPr>
          <a:xfrm>
            <a:off x="0" y="551545"/>
            <a:ext cx="762000" cy="0"/>
          </a:xfrm>
          <a:prstGeom prst="straightConnector1">
            <a:avLst/>
          </a:prstGeom>
          <a:noFill/>
          <a:ln w="25400" cap="flat" cmpd="sng">
            <a:solidFill>
              <a:srgbClr val="2C3C2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8" name="Google Shape;658;p39"/>
          <p:cNvCxnSpPr/>
          <p:nvPr/>
        </p:nvCxnSpPr>
        <p:spPr>
          <a:xfrm>
            <a:off x="10312400" y="6355445"/>
            <a:ext cx="1879600" cy="0"/>
          </a:xfrm>
          <a:prstGeom prst="straightConnector1">
            <a:avLst/>
          </a:prstGeom>
          <a:noFill/>
          <a:ln w="25400" cap="flat" cmpd="sng">
            <a:solidFill>
              <a:srgbClr val="2C3C2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6aeaee7-1dd3-447c-b847-acd05944d29f}" enabled="1" method="Privileged" siteId="{9b50c80f-103b-4433-a91c-b4b06c50738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253</Words>
  <Application>Microsoft Office PowerPoint</Application>
  <PresentationFormat>Widescreen</PresentationFormat>
  <Paragraphs>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Playfair Display</vt:lpstr>
      <vt:lpstr>Calibri</vt:lpstr>
      <vt:lpstr>Arial</vt:lpstr>
      <vt:lpstr>Poppins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Saymin Shaikh (IN)</dc:creator>
  <cp:lastModifiedBy>Saymin Shaikh (IN)</cp:lastModifiedBy>
  <cp:revision>4</cp:revision>
  <dcterms:modified xsi:type="dcterms:W3CDTF">2026-04-27T11:11:32Z</dcterms:modified>
</cp:coreProperties>
</file>